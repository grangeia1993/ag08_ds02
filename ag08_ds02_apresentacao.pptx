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Como um site funciona por trás das telas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CE6F0"/>
                </a:solidFill>
              </a:defRPr>
            </a:pPr>
            <a:r>
              <a:t>Server-side, PHP e XAMPP explicados sem complicação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86200"/>
            <a:ext cx="3108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7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08736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06908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2C74B3"/>
                </a:solidFill>
              </a:defRPr>
            </a:pPr>
            <a:r>
              <a:t>Tela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O que o cliente vê no navegador.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886200"/>
            <a:ext cx="3108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408736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406908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358F5B"/>
                </a:solidFill>
              </a:defRPr>
            </a:pPr>
            <a:r>
              <a:t>Bastidores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663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Onde as informações são processadas.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886200"/>
            <a:ext cx="3108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408736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06908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E08932"/>
                </a:solidFill>
              </a:defRPr>
            </a:pPr>
            <a:r>
              <a:t>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663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Uma página funcionando de verdade.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B3A"/>
                </a:solidFill>
              </a:defRPr>
            </a:pPr>
            <a:r>
              <a:t>1. O problema: uma tela bonita não faz 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82828"/>
                </a:solidFill>
              </a:defRPr>
            </a:pPr>
            <a:r>
              <a:t>Imagine uma loja: a vitrine mostra os produtos, mas alguém precisa cuidar do estoque, dos pedidos e do pagamento.</a:t>
            </a:r>
          </a:p>
          <a:p>
            <a:pPr>
              <a:spcAft>
                <a:spcPts val="1600"/>
              </a:spcAft>
              <a:defRPr sz="1900">
                <a:solidFill>
                  <a:srgbClr val="282828"/>
                </a:solidFill>
              </a:defRPr>
            </a:pPr>
            <a:r>
              <a:t>No site acontece algo parecido: a página é a “vitrine”, enquanto outras tarefas acontecem nos bastidores.</a:t>
            </a:r>
          </a:p>
          <a:p>
            <a:pPr>
              <a:spcAft>
                <a:spcPts val="1600"/>
              </a:spcAft>
              <a:defRPr sz="1900">
                <a:solidFill>
                  <a:srgbClr val="282828"/>
                </a:solidFill>
              </a:defRPr>
            </a:pPr>
            <a:r>
              <a:t>Exemplos: login, cadastro de clientes, formulário de contato, consulta de produtos e pedidos.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600200"/>
            <a:ext cx="38404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7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80136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783080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2C74B3"/>
                </a:solidFill>
              </a:defRPr>
            </a:pPr>
            <a:r>
              <a:t>Vitrine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23774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Mostra informações e recebe ações do visitante.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063240"/>
            <a:ext cx="38404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326440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246120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358F5B"/>
                </a:solidFill>
              </a:defRPr>
            </a:pPr>
            <a:r>
              <a:t>Bastidores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38404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Processa dados e decide o que deve acontecer.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4526280"/>
            <a:ext cx="38404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472744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709160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E08932"/>
                </a:solidFill>
              </a:defRPr>
            </a:pPr>
            <a:r>
              <a:t>Conexão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5303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O visitante pede → o sistema processa → a resposta volta.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B3A"/>
                </a:solidFill>
              </a:defRPr>
            </a:pPr>
            <a:r>
              <a:t>2. O que é server-side?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É o trabalho feito no servidor, antes da resposta chegar ao navegador.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461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7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116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2C74B3"/>
                </a:solidFill>
              </a:defRPr>
            </a:pPr>
            <a:r>
              <a:t>Cliente pede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69747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“Quero entrar na minha conta.”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5603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B3A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461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2996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0116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358F5B"/>
                </a:solidFill>
              </a:defRPr>
            </a:pPr>
            <a:r>
              <a:t>Servidor trabalha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06040"/>
            <a:ext cx="269747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Confere os dados e aplica as regras.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5603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B3A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828800"/>
            <a:ext cx="32461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02996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0116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E08932"/>
                </a:solidFill>
              </a:defRPr>
            </a:pPr>
            <a:r>
              <a:t>Resposta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606040"/>
            <a:ext cx="269747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Mostra a página ou uma mensagem.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1C2B3A"/>
                </a:solidFill>
              </a:defRPr>
            </a:pPr>
            <a:r>
              <a:t>Analogia: é como pedir um café. Você faz o pedido; a cozinha prepara; você recebe o resultado.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B3A"/>
                </a:solidFill>
              </a:defRPr>
            </a:pPr>
            <a:r>
              <a:t>3. E onde entra o PHP?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O PHP é uma linguagem usada para criar o “trabalho dos bastidores” do 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7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0136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2C74B3"/>
                </a:solidFill>
              </a:defRPr>
            </a:pPr>
            <a:r>
              <a:t>Recebe informações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834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Ex.: dados enviados em um formulário.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0136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7830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358F5B"/>
                </a:solidFill>
              </a:defRPr>
            </a:pPr>
            <a:r>
              <a:t>Processa regras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2834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Ex.: verifica se usuário e senha estão corretos.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80136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7830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E08932"/>
                </a:solidFill>
              </a:defRPr>
            </a:pPr>
            <a:r>
              <a:t>Entrega 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2834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Ex.: libera a área do cliente ou informa um erro.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82828"/>
                </a:solidFill>
              </a:defRPr>
            </a:pPr>
            <a:r>
              <a:t>PHP normalmente roda no servidor.</a:t>
            </a:r>
          </a:p>
          <a:p>
            <a:pPr>
              <a:spcAft>
                <a:spcPts val="1600"/>
              </a:spcAft>
              <a:defRPr sz="1800">
                <a:solidFill>
                  <a:srgbClr val="282828"/>
                </a:solidFill>
              </a:defRPr>
            </a:pPr>
            <a:r>
              <a:t>O visitante não precisa “ver o PHP”; ele recebe o resultado pronto.</a:t>
            </a:r>
          </a:p>
          <a:p>
            <a:pPr>
              <a:spcAft>
                <a:spcPts val="1600"/>
              </a:spcAft>
              <a:defRPr sz="1800">
                <a:solidFill>
                  <a:srgbClr val="282828"/>
                </a:solidFill>
              </a:defRPr>
            </a:pPr>
            <a:r>
              <a:t>Ele é muito usado para sites que precisam de informações dinâmicas.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B3A"/>
                </a:solidFill>
              </a:defRPr>
            </a:pPr>
            <a:r>
              <a:t>4. O que é o XAMPP?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Uma forma prática de montar um pequeno servidor no próprio computador.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3756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7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992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916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2C74B3"/>
                </a:solidFill>
              </a:defRPr>
            </a:pPr>
            <a:r>
              <a:t>Seu computador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8892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Durante o desenvolvimento, ele pode “imitar” o ambiente onde o site ficará hospedado.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0992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6916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358F5B"/>
                </a:solidFill>
              </a:defRPr>
            </a:pPr>
            <a:r>
              <a:t>XAMPP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286000"/>
            <a:ext cx="278892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Reúne ferramentas necessárias para executar um projeto web localmente, incluindo o servidor Apache e suporte ao PHP.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33756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0992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916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E08932"/>
                </a:solidFill>
              </a:defRPr>
            </a:pPr>
            <a:r>
              <a:t>Site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278892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Você testa o site antes de colocá-lo na internet.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B3A"/>
                </a:solidFill>
              </a:defRPr>
            </a:pPr>
            <a:r>
              <a:t>Exemplo: http://localhost/meusite  →  o site está rodando no seu próprio computador.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B3A"/>
                </a:solidFill>
              </a:defRPr>
            </a:pPr>
            <a:r>
              <a:t>5. Por que configurar corretamente o ambiente?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Porque o site depende das peças trabalhando juntas.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26060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7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2C74B3"/>
                </a:solidFill>
              </a:defRPr>
            </a:pPr>
            <a:r>
              <a:t>Arquivos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05740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Projeto PHP salvo na pasta correta.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6060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75564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73736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358F5B"/>
                </a:solidFill>
              </a:defRPr>
            </a:pPr>
            <a:r>
              <a:t>Servidor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331720"/>
            <a:ext cx="205740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Apache precisa estar funcionando.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26060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5564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73736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E08932"/>
                </a:solidFill>
              </a:defRPr>
            </a:pPr>
            <a:r>
              <a:t>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331720"/>
            <a:ext cx="205740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Precisa estar disponível para interpretar o código.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554480"/>
            <a:ext cx="242316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75564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73736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C24444"/>
                </a:solidFill>
              </a:defRPr>
            </a:pPr>
            <a:r>
              <a:t>Banco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331720"/>
            <a:ext cx="1874519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Quando houver dados, a conexão também precisa estar correta.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C2B3A"/>
                </a:solidFill>
              </a:defRPr>
            </a:pPr>
            <a:r>
              <a:t>Se uma peça estiver desligada ou configurada errado, o site pode não abrir ou apresentar erros.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B3A"/>
                </a:solidFill>
              </a:defRPr>
            </a:pPr>
            <a:r>
              <a:t>6. Resumo: o caminho até o site funcionar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24231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74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9280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2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2C74B3"/>
                </a:solidFill>
              </a:defRPr>
            </a:pPr>
            <a:r>
              <a:t>Visitante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Acessa o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2316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B3A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91640"/>
            <a:ext cx="24231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9280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87452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358F5B"/>
                </a:solidFill>
              </a:defRPr>
            </a:pPr>
            <a:r>
              <a:t>Servidor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6888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Recebe o pedido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42316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B3A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24231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9280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87452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E08932"/>
                </a:solidFill>
              </a:defRPr>
            </a:pPr>
            <a:r>
              <a:t>PHP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46888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Processa a lógica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2316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B3A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91640"/>
            <a:ext cx="24231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892808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187452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C24444"/>
                </a:solidFill>
              </a:defRPr>
            </a:pPr>
            <a:r>
              <a:t>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46888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Entrega a página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4340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B3A"/>
                </a:solidFill>
              </a:defRPr>
            </a:pPr>
            <a:r>
              <a:t>Dica prática</a:t>
            </a:r>
          </a:p>
          <a:p>
            <a:pPr>
              <a:spcBef>
                <a:spcPts val="800"/>
              </a:spcBef>
              <a:defRPr sz="1900">
                <a:solidFill>
                  <a:srgbClr val="282828"/>
                </a:solidFill>
              </a:defRPr>
            </a:pPr>
            <a:r>
              <a:t>Antes de publicar, teste tudo no ambiente local. Isso reduz surpresas e permite corrigir problemas com mais segurança.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